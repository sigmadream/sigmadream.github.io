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273" r:id="rId3"/>
    <p:sldId id="274" r:id="rId4"/>
    <p:sldId id="275" r:id="rId5"/>
    <p:sldId id="402" r:id="rId6"/>
    <p:sldId id="258" r:id="rId7"/>
    <p:sldId id="279" r:id="rId8"/>
    <p:sldId id="404" r:id="rId9"/>
    <p:sldId id="318" r:id="rId10"/>
    <p:sldId id="319" r:id="rId11"/>
    <p:sldId id="301" r:id="rId12"/>
    <p:sldId id="283" r:id="rId13"/>
    <p:sldId id="284" r:id="rId14"/>
    <p:sldId id="285" r:id="rId15"/>
    <p:sldId id="296" r:id="rId16"/>
    <p:sldId id="286" r:id="rId17"/>
    <p:sldId id="297" r:id="rId18"/>
    <p:sldId id="287" r:id="rId19"/>
    <p:sldId id="298" r:id="rId20"/>
    <p:sldId id="300" r:id="rId21"/>
    <p:sldId id="302" r:id="rId22"/>
    <p:sldId id="288" r:id="rId23"/>
    <p:sldId id="289" r:id="rId24"/>
    <p:sldId id="303" r:id="rId25"/>
    <p:sldId id="290" r:id="rId26"/>
    <p:sldId id="291" r:id="rId27"/>
    <p:sldId id="293" r:id="rId28"/>
    <p:sldId id="294" r:id="rId29"/>
    <p:sldId id="259" r:id="rId30"/>
    <p:sldId id="320" r:id="rId31"/>
    <p:sldId id="260" r:id="rId32"/>
    <p:sldId id="263" r:id="rId33"/>
    <p:sldId id="334" r:id="rId34"/>
    <p:sldId id="335" r:id="rId35"/>
    <p:sldId id="336" r:id="rId36"/>
    <p:sldId id="304" r:id="rId37"/>
    <p:sldId id="306" r:id="rId38"/>
    <p:sldId id="405" r:id="rId39"/>
    <p:sldId id="268" r:id="rId40"/>
    <p:sldId id="262" r:id="rId41"/>
    <p:sldId id="267" r:id="rId42"/>
    <p:sldId id="269" r:id="rId43"/>
    <p:sldId id="270" r:id="rId44"/>
    <p:sldId id="307" r:id="rId45"/>
    <p:sldId id="309" r:id="rId46"/>
    <p:sldId id="322" r:id="rId47"/>
    <p:sldId id="376" r:id="rId48"/>
    <p:sldId id="312" r:id="rId49"/>
    <p:sldId id="313" r:id="rId50"/>
    <p:sldId id="314" r:id="rId51"/>
    <p:sldId id="315" r:id="rId52"/>
    <p:sldId id="316" r:id="rId53"/>
    <p:sldId id="323" r:id="rId54"/>
    <p:sldId id="317" r:id="rId55"/>
    <p:sldId id="326" r:id="rId56"/>
    <p:sldId id="338" r:id="rId57"/>
    <p:sldId id="327" r:id="rId58"/>
    <p:sldId id="339" r:id="rId59"/>
    <p:sldId id="328" r:id="rId60"/>
    <p:sldId id="337" r:id="rId61"/>
    <p:sldId id="330" r:id="rId62"/>
    <p:sldId id="329" r:id="rId63"/>
    <p:sldId id="332" r:id="rId64"/>
    <p:sldId id="340" r:id="rId65"/>
    <p:sldId id="342" r:id="rId66"/>
    <p:sldId id="378" r:id="rId67"/>
    <p:sldId id="406" r:id="rId68"/>
    <p:sldId id="407" r:id="rId69"/>
    <p:sldId id="416" r:id="rId70"/>
    <p:sldId id="345" r:id="rId71"/>
    <p:sldId id="400" r:id="rId72"/>
    <p:sldId id="352" r:id="rId73"/>
    <p:sldId id="347" r:id="rId74"/>
    <p:sldId id="349" r:id="rId75"/>
    <p:sldId id="350" r:id="rId76"/>
    <p:sldId id="353" r:id="rId77"/>
    <p:sldId id="351" r:id="rId78"/>
    <p:sldId id="380" r:id="rId79"/>
    <p:sldId id="354" r:id="rId80"/>
    <p:sldId id="362" r:id="rId81"/>
    <p:sldId id="367" r:id="rId82"/>
    <p:sldId id="369" r:id="rId83"/>
    <p:sldId id="370" r:id="rId84"/>
    <p:sldId id="371" r:id="rId85"/>
    <p:sldId id="373" r:id="rId86"/>
    <p:sldId id="384" r:id="rId87"/>
    <p:sldId id="374" r:id="rId88"/>
    <p:sldId id="382" r:id="rId89"/>
    <p:sldId id="385" r:id="rId90"/>
    <p:sldId id="383" r:id="rId91"/>
    <p:sldId id="408" r:id="rId92"/>
    <p:sldId id="409" r:id="rId93"/>
    <p:sldId id="410" r:id="rId94"/>
    <p:sldId id="387" r:id="rId95"/>
    <p:sldId id="386" r:id="rId96"/>
    <p:sldId id="388" r:id="rId97"/>
    <p:sldId id="390" r:id="rId98"/>
    <p:sldId id="391" r:id="rId99"/>
    <p:sldId id="389" r:id="rId100"/>
    <p:sldId id="417" r:id="rId101"/>
    <p:sldId id="418" r:id="rId102"/>
    <p:sldId id="392" r:id="rId103"/>
    <p:sldId id="399" r:id="rId104"/>
    <p:sldId id="411" r:id="rId105"/>
    <p:sldId id="412" r:id="rId106"/>
    <p:sldId id="413" r:id="rId107"/>
    <p:sldId id="414" r:id="rId108"/>
    <p:sldId id="415" r:id="rId10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160" d="100"/>
          <a:sy n="160" d="100"/>
        </p:scale>
        <p:origin x="100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heme" Target="theme/theme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3598B-B192-4909-96CB-E60CEB9C5F0E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04A41-9118-4253-9BD2-0CCD1ACBD7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3527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3598B-B192-4909-96CB-E60CEB9C5F0E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04A41-9118-4253-9BD2-0CCD1ACBD7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4393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3598B-B192-4909-96CB-E60CEB9C5F0E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04A41-9118-4253-9BD2-0CCD1ACBD7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3708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3598B-B192-4909-96CB-E60CEB9C5F0E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04A41-9118-4253-9BD2-0CCD1ACBD7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9499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3598B-B192-4909-96CB-E60CEB9C5F0E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04A41-9118-4253-9BD2-0CCD1ACBD7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0250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3598B-B192-4909-96CB-E60CEB9C5F0E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04A41-9118-4253-9BD2-0CCD1ACBD7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3879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3598B-B192-4909-96CB-E60CEB9C5F0E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04A41-9118-4253-9BD2-0CCD1ACBD7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8959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3598B-B192-4909-96CB-E60CEB9C5F0E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04A41-9118-4253-9BD2-0CCD1ACBD7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5842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3598B-B192-4909-96CB-E60CEB9C5F0E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04A41-9118-4253-9BD2-0CCD1ACBD7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7102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3598B-B192-4909-96CB-E60CEB9C5F0E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04A41-9118-4253-9BD2-0CCD1ACBD7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8093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3598B-B192-4909-96CB-E60CEB9C5F0E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04A41-9118-4253-9BD2-0CCD1ACBD7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776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B3598B-B192-4909-96CB-E60CEB9C5F0E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4A41-9118-4253-9BD2-0CCD1ACBD7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6870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358900" y="1298680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600" b="1" dirty="0">
                <a:solidFill>
                  <a:srgbClr val="C00000"/>
                </a:solidFill>
                <a:latin typeface="+mj-ea"/>
                <a:ea typeface="+mj-ea"/>
              </a:rPr>
              <a:t>Ubuntu</a:t>
            </a:r>
          </a:p>
          <a:p>
            <a:pPr algn="ctr"/>
            <a:r>
              <a:rPr lang="en-US" altLang="ko-KR" sz="9600" b="1" dirty="0">
                <a:solidFill>
                  <a:schemeClr val="tx1"/>
                </a:solidFill>
                <a:latin typeface="+mj-ea"/>
                <a:ea typeface="+mj-ea"/>
              </a:rPr>
              <a:t>The best OS for AI</a:t>
            </a:r>
          </a:p>
          <a:p>
            <a:pPr algn="ctr"/>
            <a:r>
              <a:rPr lang="en-US" altLang="ko-KR" sz="9600" b="1" dirty="0">
                <a:solidFill>
                  <a:schemeClr val="accent5"/>
                </a:solidFill>
                <a:latin typeface="+mj-ea"/>
                <a:ea typeface="+mj-ea"/>
              </a:rPr>
              <a:t>-</a:t>
            </a:r>
            <a:r>
              <a:rPr lang="en-US" altLang="ko-KR" sz="9600" b="1" dirty="0" err="1">
                <a:solidFill>
                  <a:schemeClr val="accent5"/>
                </a:solidFill>
                <a:latin typeface="+mj-ea"/>
                <a:ea typeface="+mj-ea"/>
              </a:rPr>
              <a:t>sd</a:t>
            </a:r>
            <a:r>
              <a:rPr lang="en-US" altLang="ko-KR" sz="9600" b="1" dirty="0">
                <a:solidFill>
                  <a:schemeClr val="accent5"/>
                </a:solidFill>
                <a:latin typeface="+mj-ea"/>
                <a:ea typeface="+mj-ea"/>
              </a:rPr>
              <a:t>-</a:t>
            </a:r>
            <a:endParaRPr lang="en-US" altLang="ko-KR" sz="19900" dirty="0">
              <a:solidFill>
                <a:schemeClr val="accent5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10966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9900" dirty="0">
                <a:solidFill>
                  <a:schemeClr val="tx1"/>
                </a:solidFill>
                <a:latin typeface="+mj-ea"/>
                <a:ea typeface="+mj-ea"/>
              </a:rPr>
              <a:t>키보드</a:t>
            </a:r>
            <a:endParaRPr lang="en-US" altLang="ko-KR" sz="19900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19229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9900" dirty="0">
                <a:solidFill>
                  <a:schemeClr val="tx1"/>
                </a:solidFill>
                <a:latin typeface="+mj-ea"/>
                <a:ea typeface="+mj-ea"/>
              </a:rPr>
              <a:t>만</a:t>
            </a:r>
            <a:endParaRPr lang="en-US" altLang="ko-KR" sz="19900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310518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9900" dirty="0">
                <a:solidFill>
                  <a:schemeClr val="tx1"/>
                </a:solidFill>
                <a:latin typeface="+mj-ea"/>
                <a:ea typeface="+mj-ea"/>
              </a:rPr>
              <a:t>있어도</a:t>
            </a:r>
            <a:endParaRPr lang="en-US" altLang="ko-KR" sz="19900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072515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E1585-5AC3-FA6D-72E6-C8D58F0DF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7BFFB52-5D5B-6047-DA5D-091D5774AC56}"/>
              </a:ext>
            </a:extLst>
          </p:cNvPr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9900" dirty="0">
                <a:solidFill>
                  <a:schemeClr val="tx1"/>
                </a:solidFill>
                <a:latin typeface="+mj-ea"/>
                <a:ea typeface="+mj-ea"/>
              </a:rPr>
              <a:t>충분</a:t>
            </a:r>
            <a:r>
              <a:rPr lang="en-US" altLang="ko-KR" sz="19900" dirty="0">
                <a:solidFill>
                  <a:schemeClr val="tx1"/>
                </a:solidFill>
                <a:latin typeface="+mj-ea"/>
                <a:ea typeface="+mj-ea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827978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laude CMD: Claude Code의 명령어 관리를 위한 CLI 도구">
            <a:extLst>
              <a:ext uri="{FF2B5EF4-FFF2-40B4-BE49-F238E27FC236}">
                <a16:creationId xmlns:a16="http://schemas.microsoft.com/office/drawing/2014/main" id="{E4C860CD-B0A7-71C7-1E77-F1EE10E55A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8565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5989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9900" dirty="0">
                <a:solidFill>
                  <a:schemeClr val="tx1"/>
                </a:solidFill>
                <a:latin typeface="+mj-ea"/>
                <a:ea typeface="+mj-ea"/>
              </a:rPr>
              <a:t>이제는</a:t>
            </a:r>
            <a:endParaRPr lang="en-US" altLang="ko-KR" sz="19900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31893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82D58-6764-D46F-4597-1D459737A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6DB31F0-C59B-84DB-9701-B642D96179FA}"/>
              </a:ext>
            </a:extLst>
          </p:cNvPr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9900" dirty="0">
                <a:solidFill>
                  <a:schemeClr val="tx1"/>
                </a:solidFill>
                <a:latin typeface="+mj-ea"/>
                <a:ea typeface="+mj-ea"/>
              </a:rPr>
              <a:t>마이크</a:t>
            </a:r>
            <a:endParaRPr lang="en-US" altLang="ko-KR" sz="19900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757961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9900" dirty="0">
                <a:solidFill>
                  <a:schemeClr val="tx1"/>
                </a:solidFill>
                <a:latin typeface="+mj-ea"/>
                <a:ea typeface="+mj-ea"/>
              </a:rPr>
              <a:t>‘</a:t>
            </a:r>
            <a:r>
              <a:rPr lang="ko-KR" altLang="en-US" sz="19900" dirty="0">
                <a:solidFill>
                  <a:schemeClr val="tx1"/>
                </a:solidFill>
                <a:latin typeface="+mj-ea"/>
                <a:ea typeface="+mj-ea"/>
              </a:rPr>
              <a:t>도</a:t>
            </a:r>
            <a:r>
              <a:rPr lang="en-US" altLang="ko-KR" sz="19900" dirty="0">
                <a:solidFill>
                  <a:schemeClr val="tx1"/>
                </a:solidFill>
                <a:latin typeface="+mj-ea"/>
                <a:ea typeface="+mj-ea"/>
              </a:rPr>
              <a:t>’</a:t>
            </a:r>
          </a:p>
        </p:txBody>
      </p:sp>
    </p:spTree>
    <p:extLst>
      <p:ext uri="{BB962C8B-B14F-4D97-AF65-F5344CB8AC3E}">
        <p14:creationId xmlns:p14="http://schemas.microsoft.com/office/powerpoint/2010/main" val="346045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9900" dirty="0">
                <a:solidFill>
                  <a:schemeClr val="tx1"/>
                </a:solidFill>
                <a:latin typeface="+mj-ea"/>
                <a:ea typeface="+mj-ea"/>
              </a:rPr>
              <a:t>필요한</a:t>
            </a:r>
            <a:endParaRPr lang="en-US" altLang="ko-KR" sz="19900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0010198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Programming Enters the &quot;Walkie-Talkie&quot; Era: Claude Launches Voice Code  Writing with Free Transcription Tokens">
            <a:extLst>
              <a:ext uri="{FF2B5EF4-FFF2-40B4-BE49-F238E27FC236}">
                <a16:creationId xmlns:a16="http://schemas.microsoft.com/office/drawing/2014/main" id="{54645876-845F-3C21-3E58-DE040A92FA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32386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14344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9900" dirty="0">
                <a:solidFill>
                  <a:schemeClr val="tx1"/>
                </a:solidFill>
                <a:latin typeface="+mj-ea"/>
                <a:ea typeface="+mj-ea"/>
              </a:rPr>
              <a:t>진정한</a:t>
            </a:r>
            <a:endParaRPr lang="en-US" altLang="ko-KR" sz="19900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602973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9900" dirty="0" err="1">
                <a:solidFill>
                  <a:schemeClr val="tx1"/>
                </a:solidFill>
                <a:latin typeface="+mj-ea"/>
                <a:ea typeface="+mj-ea"/>
              </a:rPr>
              <a:t>대인배</a:t>
            </a:r>
            <a:endParaRPr lang="en-US" altLang="ko-KR" sz="19900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1104175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600" dirty="0" err="1">
                <a:solidFill>
                  <a:schemeClr val="tx1"/>
                </a:solidFill>
                <a:latin typeface="+mj-ea"/>
                <a:ea typeface="+mj-ea"/>
              </a:rPr>
              <a:t>팔로알토</a:t>
            </a:r>
            <a:endParaRPr lang="en-US" altLang="ko-KR" sz="16600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777567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 descr="http://letztotallab.com/wp-content/uploads/2015/01/%ED%8C%94%EB%A1%9C%EC%95%8C%ED%86%A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60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47605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9900" dirty="0">
                <a:solidFill>
                  <a:schemeClr val="tx1"/>
                </a:solidFill>
                <a:latin typeface="+mj-ea"/>
                <a:ea typeface="+mj-ea"/>
              </a:rPr>
              <a:t>연구소</a:t>
            </a:r>
            <a:endParaRPr lang="en-US" altLang="ko-KR" sz="19900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8728756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 descr="http://www.wca.org/files/directory_images/372-parc_log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575" y="1598612"/>
            <a:ext cx="11353800" cy="3286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87066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600" dirty="0">
                <a:solidFill>
                  <a:schemeClr val="tx1"/>
                </a:solidFill>
                <a:latin typeface="+mj-ea"/>
                <a:ea typeface="+mj-ea"/>
              </a:rPr>
              <a:t>펜대</a:t>
            </a:r>
            <a:r>
              <a:rPr lang="en-US" altLang="ko-KR" sz="16600" dirty="0">
                <a:solidFill>
                  <a:schemeClr val="tx1"/>
                </a:solidFill>
                <a:latin typeface="+mj-ea"/>
                <a:ea typeface="+mj-ea"/>
              </a:rPr>
              <a:t>/</a:t>
            </a:r>
            <a:r>
              <a:rPr lang="ko-KR" altLang="en-US" sz="16600" dirty="0">
                <a:solidFill>
                  <a:schemeClr val="tx1"/>
                </a:solidFill>
                <a:latin typeface="+mj-ea"/>
                <a:ea typeface="+mj-ea"/>
              </a:rPr>
              <a:t>계약</a:t>
            </a:r>
            <a:endParaRPr lang="en-US" altLang="ko-KR" sz="16600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4959324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8" name="Picture 6" descr="http://i.imgur.com/CKdvb5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211513"/>
            <a:ext cx="12192000" cy="17610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96042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http://www.bloter.net/wp-content/uploads/2012/09/%EC%8A%A4%ED%81%AC%EB%A6%B0%EC%83%B7-2012-09-23-%EC%98%A4%ED%9B%84-8.30.0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08100"/>
            <a:ext cx="12228791" cy="368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8104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9900" dirty="0" err="1">
                <a:solidFill>
                  <a:schemeClr val="tx1"/>
                </a:solidFill>
                <a:latin typeface="+mj-ea"/>
                <a:ea typeface="+mj-ea"/>
              </a:rPr>
              <a:t>리눅스</a:t>
            </a:r>
            <a:endParaRPr lang="en-US" altLang="ko-KR" sz="19900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5400332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9900" dirty="0">
                <a:solidFill>
                  <a:schemeClr val="tx1"/>
                </a:solidFill>
                <a:latin typeface="+mj-ea"/>
                <a:ea typeface="+mj-ea"/>
              </a:rPr>
              <a:t>부단한</a:t>
            </a:r>
            <a:endParaRPr lang="en-US" altLang="ko-KR" sz="19900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9411636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9900" dirty="0">
                <a:solidFill>
                  <a:schemeClr val="tx1"/>
                </a:solidFill>
                <a:latin typeface="+mj-ea"/>
                <a:ea typeface="+mj-ea"/>
              </a:rPr>
              <a:t>노력</a:t>
            </a:r>
            <a:endParaRPr lang="en-US" altLang="ko-KR" sz="19900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5156443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" descr="https://upload.wikimedia.org/wikipedia/commons/7/71/Kernel-panic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70001"/>
            <a:ext cx="12192000" cy="812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01653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9900" dirty="0">
                <a:solidFill>
                  <a:schemeClr val="tx1"/>
                </a:solidFill>
                <a:latin typeface="+mj-ea"/>
                <a:ea typeface="+mj-ea"/>
              </a:rPr>
              <a:t>GNOME</a:t>
            </a:r>
          </a:p>
        </p:txBody>
      </p:sp>
    </p:spTree>
    <p:extLst>
      <p:ext uri="{BB962C8B-B14F-4D97-AF65-F5344CB8AC3E}">
        <p14:creationId xmlns:p14="http://schemas.microsoft.com/office/powerpoint/2010/main" val="39431692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http://gcm.sourceforge.net/img/GCM1_vs_GCM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352677"/>
            <a:ext cx="12280900" cy="9210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29193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9900" dirty="0">
                <a:solidFill>
                  <a:schemeClr val="tx1"/>
                </a:solidFill>
                <a:latin typeface="+mj-ea"/>
                <a:ea typeface="+mj-ea"/>
              </a:rPr>
              <a:t>KDE</a:t>
            </a:r>
          </a:p>
        </p:txBody>
      </p:sp>
    </p:spTree>
    <p:extLst>
      <p:ext uri="{BB962C8B-B14F-4D97-AF65-F5344CB8AC3E}">
        <p14:creationId xmlns:p14="http://schemas.microsoft.com/office/powerpoint/2010/main" val="5801803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 descr="https://upload.wikimedia.org/wikipedia/commons/8/8d/KDE_Beta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278063"/>
            <a:ext cx="12181416" cy="9136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49567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://systhread.net/texts/2009xvishist-img/wmaker_ctrl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278"/>
          <a:stretch/>
        </p:blipFill>
        <p:spPr bwMode="auto">
          <a:xfrm>
            <a:off x="0" y="0"/>
            <a:ext cx="12192000" cy="683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01092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://lh5.ggpht.com/-azKFnvkqUag/TrH7ExHQBzI/AAAAAAAAB1M/JSTeFO4paPI/jarbang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199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77773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ttp://2.bp.blogspot.com/-6kzyhS6GmCM/UzPxQtjM3pI/AAAAAAAAR-E/iiJIbqgAT0g/s1600/ubuntu-14.0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60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40621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http://pds26.egloos.com/pds/201404/11/75/b0042375_5347e7ec7fc24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6" t="1006" r="41905" b="19870"/>
          <a:stretch/>
        </p:blipFill>
        <p:spPr bwMode="auto">
          <a:xfrm>
            <a:off x="0" y="-14514"/>
            <a:ext cx="6270172" cy="6850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ttp://cfile9.uf.tistory.com/image/204793174B1C4811408E5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22" t="-392" r="40867" b="8236"/>
          <a:stretch/>
        </p:blipFill>
        <p:spPr bwMode="auto">
          <a:xfrm>
            <a:off x="6270173" y="-14514"/>
            <a:ext cx="5936342" cy="6821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9900" dirty="0">
                <a:solidFill>
                  <a:schemeClr val="bg1"/>
                </a:solidFill>
                <a:latin typeface="+mj-ea"/>
                <a:ea typeface="+mj-ea"/>
              </a:rPr>
              <a:t>UI</a:t>
            </a:r>
            <a:r>
              <a:rPr lang="ko-KR" altLang="en-US" sz="19900" dirty="0">
                <a:solidFill>
                  <a:schemeClr val="bg1"/>
                </a:solidFill>
                <a:latin typeface="+mj-ea"/>
                <a:ea typeface="+mj-ea"/>
              </a:rPr>
              <a:t>와 </a:t>
            </a:r>
            <a:r>
              <a:rPr lang="en-US" altLang="ko-KR" sz="19900" dirty="0">
                <a:solidFill>
                  <a:schemeClr val="bg1"/>
                </a:solidFill>
                <a:latin typeface="+mj-ea"/>
                <a:ea typeface="+mj-ea"/>
              </a:rPr>
              <a:t>UX</a:t>
            </a:r>
          </a:p>
        </p:txBody>
      </p:sp>
    </p:spTree>
    <p:extLst>
      <p:ext uri="{BB962C8B-B14F-4D97-AF65-F5344CB8AC3E}">
        <p14:creationId xmlns:p14="http://schemas.microsoft.com/office/powerpoint/2010/main" val="12479125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9900" dirty="0">
                <a:solidFill>
                  <a:schemeClr val="tx1"/>
                </a:solidFill>
                <a:latin typeface="+mj-ea"/>
                <a:ea typeface="+mj-ea"/>
              </a:rPr>
              <a:t>21</a:t>
            </a:r>
            <a:r>
              <a:rPr lang="ko-KR" altLang="en-US" sz="19900" dirty="0">
                <a:solidFill>
                  <a:schemeClr val="tx1"/>
                </a:solidFill>
                <a:latin typeface="+mj-ea"/>
                <a:ea typeface="+mj-ea"/>
              </a:rPr>
              <a:t>세기</a:t>
            </a:r>
            <a:endParaRPr lang="en-US" altLang="ko-KR" sz="19900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459715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9900" dirty="0">
                <a:solidFill>
                  <a:schemeClr val="tx1"/>
                </a:solidFill>
                <a:latin typeface="+mj-ea"/>
                <a:ea typeface="+mj-ea"/>
              </a:rPr>
              <a:t>지금</a:t>
            </a:r>
            <a:endParaRPr lang="en-US" altLang="ko-KR" sz="19900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3953187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0" dirty="0" err="1">
                <a:solidFill>
                  <a:srgbClr val="00B0F0"/>
                </a:solidFill>
                <a:latin typeface="+mj-ea"/>
                <a:ea typeface="+mj-ea"/>
              </a:rPr>
              <a:t>datetieme.utcnow</a:t>
            </a:r>
            <a:r>
              <a:rPr lang="en-US" altLang="ko-KR" sz="8000" dirty="0">
                <a:solidFill>
                  <a:srgbClr val="00B0F0"/>
                </a:solidFill>
                <a:latin typeface="+mj-ea"/>
                <a:ea typeface="+mj-ea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0125057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OpenAI picks up pace against Claude Code with new Codex desktop app - Ars  Technica">
            <a:extLst>
              <a:ext uri="{FF2B5EF4-FFF2-40B4-BE49-F238E27FC236}">
                <a16:creationId xmlns:a16="http://schemas.microsoft.com/office/drawing/2014/main" id="{04942AE1-8A52-CECB-E651-3EE664B81D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8685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9900" dirty="0">
                <a:solidFill>
                  <a:schemeClr val="tx1"/>
                </a:solidFill>
                <a:latin typeface="+mj-ea"/>
                <a:ea typeface="+mj-ea"/>
              </a:rPr>
              <a:t>돌고</a:t>
            </a:r>
            <a:endParaRPr lang="en-US" altLang="ko-KR" sz="19900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2918357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29254-22FD-67CD-4604-0F4C05478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86C7A46-F619-D404-8585-59DC2090FC71}"/>
              </a:ext>
            </a:extLst>
          </p:cNvPr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9900" dirty="0">
                <a:solidFill>
                  <a:schemeClr val="tx1"/>
                </a:solidFill>
                <a:latin typeface="+mj-ea"/>
                <a:ea typeface="+mj-ea"/>
              </a:rPr>
              <a:t>돌아</a:t>
            </a:r>
            <a:endParaRPr lang="en-US" altLang="ko-KR" sz="19900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0137935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9900" dirty="0">
                <a:solidFill>
                  <a:schemeClr val="tx1"/>
                </a:solidFill>
                <a:latin typeface="+mj-ea"/>
                <a:ea typeface="+mj-ea"/>
              </a:rPr>
              <a:t>터미널</a:t>
            </a:r>
            <a:endParaRPr lang="en-US" altLang="ko-KR" sz="19900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448834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6" name="Picture 10" descr="MS-DOS 시절 파일관리 프로그램으로 개발되었던 국산 프로그램 MDIR. 최정한씨가 만들었다. /경향자료사진">
            <a:extLst>
              <a:ext uri="{FF2B5EF4-FFF2-40B4-BE49-F238E27FC236}">
                <a16:creationId xmlns:a16="http://schemas.microsoft.com/office/drawing/2014/main" id="{8D685EBE-E796-D56F-4B4E-9315185536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7646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66280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9900" dirty="0">
                <a:solidFill>
                  <a:schemeClr val="tx1"/>
                </a:solidFill>
                <a:latin typeface="+mj-ea"/>
                <a:ea typeface="+mj-ea"/>
              </a:rPr>
              <a:t>버티고</a:t>
            </a:r>
            <a:endParaRPr lang="en-US" altLang="ko-KR" sz="19900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9588262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9900" dirty="0">
                <a:solidFill>
                  <a:schemeClr val="tx1"/>
                </a:solidFill>
                <a:latin typeface="+mj-ea"/>
                <a:ea typeface="+mj-ea"/>
              </a:rPr>
              <a:t>버틴</a:t>
            </a:r>
            <a:endParaRPr lang="en-US" altLang="ko-KR" sz="19900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4382891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9900" dirty="0">
                <a:solidFill>
                  <a:schemeClr val="tx1"/>
                </a:solidFill>
                <a:latin typeface="+mj-ea"/>
                <a:ea typeface="+mj-ea"/>
              </a:rPr>
              <a:t>리눅스</a:t>
            </a:r>
            <a:endParaRPr lang="en-US" altLang="ko-KR" sz="19900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11317644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9900" dirty="0">
                <a:solidFill>
                  <a:schemeClr val="tx1"/>
                </a:solidFill>
                <a:latin typeface="+mj-ea"/>
                <a:ea typeface="+mj-ea"/>
              </a:rPr>
              <a:t>“</a:t>
            </a:r>
            <a:r>
              <a:rPr lang="ko-KR" altLang="en-US" sz="19900" dirty="0">
                <a:solidFill>
                  <a:schemeClr val="tx1"/>
                </a:solidFill>
                <a:latin typeface="+mj-ea"/>
                <a:ea typeface="+mj-ea"/>
              </a:rPr>
              <a:t>성공적</a:t>
            </a:r>
            <a:r>
              <a:rPr lang="en-US" altLang="ko-KR" sz="19900" dirty="0">
                <a:solidFill>
                  <a:schemeClr val="tx1"/>
                </a:solidFill>
                <a:latin typeface="+mj-ea"/>
                <a:ea typeface="+mj-ea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1879116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600" dirty="0"/>
              <a:t>All About </a:t>
            </a:r>
            <a:r>
              <a:rPr lang="en-US" altLang="ko-KR" sz="9600" dirty="0" err="1"/>
              <a:t>Devloperment</a:t>
            </a:r>
            <a:r>
              <a:rPr lang="en-US" altLang="ko-KR" sz="9600" dirty="0"/>
              <a:t> on </a:t>
            </a:r>
            <a:r>
              <a:rPr lang="en-US" altLang="ko-KR" sz="11500" b="1" dirty="0">
                <a:solidFill>
                  <a:srgbClr val="C00000"/>
                </a:solidFill>
              </a:rPr>
              <a:t>Terminal</a:t>
            </a:r>
            <a:endParaRPr lang="en-US" altLang="ko-KR" sz="19900" b="1" dirty="0">
              <a:solidFill>
                <a:srgbClr val="C000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0178304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https://scontent.cdninstagram.com/hphotos-xaf1/t51.2885-15/e15/11348352_895558823856682_366284817_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12192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321075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600" dirty="0">
                <a:latin typeface="+mj-ea"/>
                <a:ea typeface="+mj-ea"/>
              </a:rPr>
              <a:t>Get started with </a:t>
            </a:r>
            <a:r>
              <a:rPr lang="en-US" altLang="ko-KR" sz="9600" b="1" dirty="0">
                <a:solidFill>
                  <a:srgbClr val="00B0F0"/>
                </a:solidFill>
                <a:latin typeface="+mj-ea"/>
                <a:ea typeface="+mj-ea"/>
              </a:rPr>
              <a:t>Terminal</a:t>
            </a:r>
            <a:endParaRPr lang="en-US" altLang="ko-KR" sz="19900" dirty="0">
              <a:solidFill>
                <a:srgbClr val="00B0F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46257600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9900" dirty="0">
                <a:solidFill>
                  <a:schemeClr val="tx1"/>
                </a:solidFill>
                <a:latin typeface="+mj-ea"/>
                <a:ea typeface="+mj-ea"/>
              </a:rPr>
              <a:t>우리가</a:t>
            </a:r>
            <a:endParaRPr lang="en-US" altLang="ko-KR" sz="19900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5546674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9900" dirty="0">
                <a:solidFill>
                  <a:schemeClr val="tx1"/>
                </a:solidFill>
                <a:latin typeface="+mj-ea"/>
                <a:ea typeface="+mj-ea"/>
              </a:rPr>
              <a:t>알아야</a:t>
            </a:r>
            <a:endParaRPr lang="en-US" altLang="ko-KR" sz="19900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8411513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9900" dirty="0">
                <a:solidFill>
                  <a:schemeClr val="tx1"/>
                </a:solidFill>
                <a:latin typeface="+mj-ea"/>
                <a:ea typeface="+mj-ea"/>
              </a:rPr>
              <a:t>할</a:t>
            </a:r>
            <a:endParaRPr lang="en-US" altLang="ko-KR" sz="19900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0052325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9900" dirty="0">
                <a:solidFill>
                  <a:schemeClr val="tx1"/>
                </a:solidFill>
                <a:latin typeface="+mj-ea"/>
                <a:ea typeface="+mj-ea"/>
              </a:rPr>
              <a:t>것</a:t>
            </a:r>
            <a:endParaRPr lang="en-US" altLang="ko-KR" sz="19900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93187412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9900" dirty="0">
                <a:solidFill>
                  <a:schemeClr val="tx1"/>
                </a:solidFill>
                <a:latin typeface="+mj-ea"/>
                <a:ea typeface="+mj-ea"/>
              </a:rPr>
              <a:t>“</a:t>
            </a:r>
            <a:r>
              <a:rPr lang="ko-KR" altLang="en-US" sz="19900" dirty="0">
                <a:solidFill>
                  <a:schemeClr val="tx1"/>
                </a:solidFill>
                <a:latin typeface="+mj-ea"/>
                <a:ea typeface="+mj-ea"/>
              </a:rPr>
              <a:t>들</a:t>
            </a:r>
            <a:r>
              <a:rPr lang="en-US" altLang="ko-KR" sz="19900" dirty="0">
                <a:solidFill>
                  <a:schemeClr val="tx1"/>
                </a:solidFill>
                <a:latin typeface="+mj-ea"/>
                <a:ea typeface="+mj-ea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8962043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600" dirty="0">
                <a:solidFill>
                  <a:schemeClr val="tx1"/>
                </a:solidFill>
                <a:latin typeface="+mj-ea"/>
                <a:ea typeface="+mj-ea"/>
              </a:rPr>
              <a:t>{ </a:t>
            </a:r>
            <a:r>
              <a:rPr lang="ko-KR" altLang="en-US" sz="16600" dirty="0" err="1">
                <a:solidFill>
                  <a:schemeClr val="tx1"/>
                </a:solidFill>
                <a:latin typeface="+mj-ea"/>
                <a:ea typeface="+mj-ea"/>
              </a:rPr>
              <a:t>첫번째</a:t>
            </a:r>
            <a:r>
              <a:rPr lang="ko-KR" altLang="en-US" sz="16600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en-US" altLang="ko-KR" sz="16600" dirty="0">
                <a:solidFill>
                  <a:schemeClr val="tx1"/>
                </a:solidFill>
                <a:latin typeface="+mj-ea"/>
                <a:ea typeface="+mj-ea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3079785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199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pic>
        <p:nvPicPr>
          <p:cNvPr id="5122" name="Picture 2" descr="http://pds.egloos.com/pds/1/200505/19/28/b0054128_1555337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9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685475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600" dirty="0" err="1">
                <a:solidFill>
                  <a:schemeClr val="tx1"/>
                </a:solidFill>
                <a:latin typeface="+mj-ea"/>
                <a:ea typeface="+mj-ea"/>
              </a:rPr>
              <a:t>ReDirect</a:t>
            </a:r>
            <a:endParaRPr lang="en-US" altLang="ko-KR" sz="16600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2812944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3800" dirty="0">
                <a:solidFill>
                  <a:schemeClr val="tx1"/>
                </a:solidFill>
                <a:latin typeface="+mj-ea"/>
                <a:ea typeface="+mj-ea"/>
              </a:rPr>
              <a:t>‘</a:t>
            </a:r>
            <a:r>
              <a:rPr lang="ko-KR" altLang="en-US" sz="13800" dirty="0" err="1">
                <a:solidFill>
                  <a:schemeClr val="tx1"/>
                </a:solidFill>
                <a:latin typeface="+mj-ea"/>
                <a:ea typeface="+mj-ea"/>
              </a:rPr>
              <a:t>뤼다이렉트</a:t>
            </a:r>
            <a:r>
              <a:rPr lang="en-US" altLang="ko-KR" sz="13800" dirty="0">
                <a:solidFill>
                  <a:schemeClr val="tx1"/>
                </a:solidFill>
                <a:latin typeface="+mj-ea"/>
                <a:ea typeface="+mj-ea"/>
              </a:rPr>
              <a:t>’</a:t>
            </a:r>
          </a:p>
        </p:txBody>
      </p:sp>
    </p:spTree>
    <p:extLst>
      <p:ext uri="{BB962C8B-B14F-4D97-AF65-F5344CB8AC3E}">
        <p14:creationId xmlns:p14="http://schemas.microsoft.com/office/powerpoint/2010/main" val="169603731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9900" dirty="0">
                <a:solidFill>
                  <a:schemeClr val="tx1"/>
                </a:solidFill>
                <a:latin typeface="+mj-ea"/>
                <a:ea typeface="+mj-ea"/>
              </a:rPr>
              <a:t>And</a:t>
            </a:r>
          </a:p>
        </p:txBody>
      </p:sp>
    </p:spTree>
    <p:extLst>
      <p:ext uri="{BB962C8B-B14F-4D97-AF65-F5344CB8AC3E}">
        <p14:creationId xmlns:p14="http://schemas.microsoft.com/office/powerpoint/2010/main" val="182465644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9900" dirty="0" err="1">
                <a:solidFill>
                  <a:schemeClr val="tx1"/>
                </a:solidFill>
                <a:latin typeface="+mj-ea"/>
                <a:ea typeface="+mj-ea"/>
              </a:rPr>
              <a:t>엔드</a:t>
            </a:r>
            <a:endParaRPr lang="en-US" altLang="ko-KR" sz="19900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9047349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9900" dirty="0">
                <a:solidFill>
                  <a:schemeClr val="tx1"/>
                </a:solidFill>
                <a:latin typeface="+mj-ea"/>
                <a:ea typeface="+mj-ea"/>
              </a:rPr>
              <a:t>Pipe</a:t>
            </a:r>
          </a:p>
        </p:txBody>
      </p:sp>
    </p:spTree>
    <p:extLst>
      <p:ext uri="{BB962C8B-B14F-4D97-AF65-F5344CB8AC3E}">
        <p14:creationId xmlns:p14="http://schemas.microsoft.com/office/powerpoint/2010/main" val="339527406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9900" dirty="0">
                <a:solidFill>
                  <a:schemeClr val="tx1"/>
                </a:solidFill>
                <a:latin typeface="+mj-ea"/>
                <a:ea typeface="+mj-ea"/>
              </a:rPr>
              <a:t>‘</a:t>
            </a:r>
            <a:r>
              <a:rPr lang="ko-KR" altLang="en-US" sz="19900" dirty="0" err="1">
                <a:solidFill>
                  <a:schemeClr val="tx1"/>
                </a:solidFill>
                <a:latin typeface="+mj-ea"/>
                <a:ea typeface="+mj-ea"/>
              </a:rPr>
              <a:t>빠이쁘</a:t>
            </a:r>
            <a:r>
              <a:rPr lang="en-US" altLang="ko-KR" sz="19900" dirty="0">
                <a:solidFill>
                  <a:schemeClr val="tx1"/>
                </a:solidFill>
                <a:latin typeface="+mj-ea"/>
                <a:ea typeface="+mj-ea"/>
              </a:rPr>
              <a:t>’</a:t>
            </a:r>
          </a:p>
        </p:txBody>
      </p:sp>
    </p:spTree>
    <p:extLst>
      <p:ext uri="{BB962C8B-B14F-4D97-AF65-F5344CB8AC3E}">
        <p14:creationId xmlns:p14="http://schemas.microsoft.com/office/powerpoint/2010/main" val="275751894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9900" dirty="0">
                <a:solidFill>
                  <a:schemeClr val="tx1"/>
                </a:solidFill>
                <a:latin typeface="+mj-ea"/>
                <a:ea typeface="+mj-ea"/>
              </a:rPr>
              <a:t>좋은 예</a:t>
            </a:r>
            <a:r>
              <a:rPr lang="en-US" altLang="ko-KR" sz="19900" dirty="0">
                <a:solidFill>
                  <a:schemeClr val="tx1"/>
                </a:solidFill>
                <a:latin typeface="+mj-ea"/>
                <a:ea typeface="+mj-ea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35770873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850900" y="1302656"/>
            <a:ext cx="107315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6000" dirty="0">
                <a:solidFill>
                  <a:srgbClr val="00B0F0"/>
                </a:solidFill>
                <a:latin typeface="+mj-ea"/>
                <a:ea typeface="+mj-ea"/>
              </a:rPr>
              <a:t>$ tail -f log </a:t>
            </a:r>
            <a:r>
              <a:rPr lang="en-US" altLang="ko-KR" sz="9600" dirty="0">
                <a:solidFill>
                  <a:srgbClr val="00B0F0"/>
                </a:solidFill>
                <a:latin typeface="+mj-ea"/>
                <a:ea typeface="+mj-ea"/>
              </a:rPr>
              <a:t>|</a:t>
            </a:r>
            <a:r>
              <a:rPr lang="en-US" altLang="ko-KR" sz="6000" dirty="0">
                <a:solidFill>
                  <a:srgbClr val="00B0F0"/>
                </a:solidFill>
                <a:latin typeface="+mj-ea"/>
                <a:ea typeface="+mj-ea"/>
              </a:rPr>
              <a:t> </a:t>
            </a:r>
          </a:p>
          <a:p>
            <a:pPr algn="ctr"/>
            <a:r>
              <a:rPr lang="en-US" altLang="ko-KR" sz="6000" dirty="0">
                <a:solidFill>
                  <a:srgbClr val="00B0F0"/>
                </a:solidFill>
                <a:latin typeface="+mj-ea"/>
                <a:ea typeface="+mj-ea"/>
              </a:rPr>
              <a:t>grep --line-buffered Error </a:t>
            </a:r>
            <a:r>
              <a:rPr lang="en-US" altLang="ko-KR" sz="9600" dirty="0">
                <a:solidFill>
                  <a:srgbClr val="00B0F0"/>
                </a:solidFill>
                <a:latin typeface="+mj-ea"/>
                <a:ea typeface="+mj-ea"/>
              </a:rPr>
              <a:t>&gt;</a:t>
            </a:r>
            <a:endParaRPr lang="en-US" altLang="ko-KR" sz="6000" dirty="0">
              <a:solidFill>
                <a:srgbClr val="00B0F0"/>
              </a:solidFill>
              <a:latin typeface="+mj-ea"/>
              <a:ea typeface="+mj-ea"/>
            </a:endParaRPr>
          </a:p>
          <a:p>
            <a:pPr algn="ctr"/>
            <a:r>
              <a:rPr lang="en-US" altLang="ko-KR" sz="6000" dirty="0">
                <a:solidFill>
                  <a:srgbClr val="00B0F0"/>
                </a:solidFill>
                <a:latin typeface="+mj-ea"/>
                <a:ea typeface="+mj-ea"/>
              </a:rPr>
              <a:t>error.txt</a:t>
            </a:r>
            <a:endParaRPr lang="en-US" altLang="ko-KR" sz="8800" dirty="0">
              <a:solidFill>
                <a:srgbClr val="00B0F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3153476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600" dirty="0">
                <a:solidFill>
                  <a:schemeClr val="tx1"/>
                </a:solidFill>
                <a:latin typeface="+mj-ea"/>
                <a:ea typeface="+mj-ea"/>
              </a:rPr>
              <a:t>{ </a:t>
            </a:r>
            <a:r>
              <a:rPr lang="ko-KR" altLang="en-US" sz="16600" dirty="0" err="1">
                <a:solidFill>
                  <a:schemeClr val="tx1"/>
                </a:solidFill>
                <a:latin typeface="+mj-ea"/>
                <a:ea typeface="+mj-ea"/>
              </a:rPr>
              <a:t>두번째</a:t>
            </a:r>
            <a:r>
              <a:rPr lang="en-US" altLang="ko-KR" sz="16600" dirty="0">
                <a:solidFill>
                  <a:schemeClr val="tx1"/>
                </a:solidFill>
                <a:latin typeface="+mj-ea"/>
                <a:ea typeface="+mj-ea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283453252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793" y="305301"/>
            <a:ext cx="10078954" cy="5754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86869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9900" dirty="0">
                <a:solidFill>
                  <a:schemeClr val="tx1"/>
                </a:solidFill>
                <a:latin typeface="+mj-ea"/>
                <a:ea typeface="+mj-ea"/>
              </a:rPr>
              <a:t>man</a:t>
            </a:r>
          </a:p>
        </p:txBody>
      </p:sp>
    </p:spTree>
    <p:extLst>
      <p:ext uri="{BB962C8B-B14F-4D97-AF65-F5344CB8AC3E}">
        <p14:creationId xmlns:p14="http://schemas.microsoft.com/office/powerpoint/2010/main" val="409326967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9900" dirty="0" err="1">
                <a:solidFill>
                  <a:schemeClr val="tx1"/>
                </a:solidFill>
                <a:latin typeface="+mj-ea"/>
                <a:ea typeface="+mj-ea"/>
              </a:rPr>
              <a:t>rtfm</a:t>
            </a:r>
            <a:r>
              <a:rPr lang="en-US" altLang="ko-KR" sz="19900" dirty="0">
                <a:solidFill>
                  <a:schemeClr val="tx1"/>
                </a:solidFill>
                <a:latin typeface="+mj-ea"/>
                <a:ea typeface="+mj-ea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63787366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ECEC5-DB12-850E-E645-C7635B2DC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E7E5D79-79C5-9871-B1BC-C4923465856C}"/>
              </a:ext>
            </a:extLst>
          </p:cNvPr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9900" dirty="0">
                <a:solidFill>
                  <a:schemeClr val="tx1"/>
                </a:solidFill>
                <a:latin typeface="+mj-ea"/>
                <a:ea typeface="+mj-ea"/>
              </a:rPr>
              <a:t>그리고</a:t>
            </a:r>
            <a:endParaRPr lang="en-US" altLang="ko-KR" sz="19900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25709258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CE3B0-7494-5420-CF67-78EB77A4E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6F421CA-1647-792E-64E4-9D5F5861A34F}"/>
              </a:ext>
            </a:extLst>
          </p:cNvPr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9900" dirty="0">
                <a:solidFill>
                  <a:schemeClr val="tx1"/>
                </a:solidFill>
                <a:latin typeface="+mj-ea"/>
                <a:ea typeface="+mj-ea"/>
              </a:rPr>
              <a:t>md</a:t>
            </a:r>
          </a:p>
        </p:txBody>
      </p:sp>
    </p:spTree>
    <p:extLst>
      <p:ext uri="{BB962C8B-B14F-4D97-AF65-F5344CB8AC3E}">
        <p14:creationId xmlns:p14="http://schemas.microsoft.com/office/powerpoint/2010/main" val="321041789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DN media">
            <a:extLst>
              <a:ext uri="{FF2B5EF4-FFF2-40B4-BE49-F238E27FC236}">
                <a16:creationId xmlns:a16="http://schemas.microsoft.com/office/drawing/2014/main" id="{37355BEC-BE43-09A4-1A75-02DA8C694D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34980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009283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600" dirty="0">
                <a:solidFill>
                  <a:schemeClr val="tx1"/>
                </a:solidFill>
                <a:latin typeface="+mj-ea"/>
                <a:ea typeface="+mj-ea"/>
              </a:rPr>
              <a:t>{ </a:t>
            </a:r>
            <a:r>
              <a:rPr lang="ko-KR" altLang="en-US" sz="16600" dirty="0" err="1">
                <a:solidFill>
                  <a:schemeClr val="tx1"/>
                </a:solidFill>
                <a:latin typeface="+mj-ea"/>
                <a:ea typeface="+mj-ea"/>
              </a:rPr>
              <a:t>세번째</a:t>
            </a:r>
            <a:r>
              <a:rPr lang="en-US" altLang="ko-KR" sz="16600" dirty="0">
                <a:solidFill>
                  <a:schemeClr val="tx1"/>
                </a:solidFill>
                <a:latin typeface="+mj-ea"/>
                <a:ea typeface="+mj-ea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292902989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http://cfile25.uf.tistory.com/image/1419C850502F06730837D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0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065538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http://cfile219.uf.daum.net/image/12277A484E395C570544C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05741" y="0"/>
            <a:ext cx="1489774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535307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9900" dirty="0" err="1">
                <a:solidFill>
                  <a:schemeClr val="tx1"/>
                </a:solidFill>
                <a:latin typeface="+mj-ea"/>
                <a:ea typeface="+mj-ea"/>
              </a:rPr>
              <a:t>zsh</a:t>
            </a:r>
            <a:endParaRPr lang="en-US" altLang="ko-KR" sz="19900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14847744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logicmd.net/wp-content/uploads/2012/11/my-zsh_1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8139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254186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600" dirty="0">
                <a:solidFill>
                  <a:schemeClr val="tx1"/>
                </a:solidFill>
                <a:latin typeface="+mj-ea"/>
                <a:ea typeface="+mj-ea"/>
              </a:rPr>
              <a:t>{ </a:t>
            </a:r>
            <a:r>
              <a:rPr lang="ko-KR" altLang="en-US" sz="16600" dirty="0" err="1">
                <a:solidFill>
                  <a:schemeClr val="tx1"/>
                </a:solidFill>
                <a:latin typeface="+mj-ea"/>
                <a:ea typeface="+mj-ea"/>
              </a:rPr>
              <a:t>네번째</a:t>
            </a:r>
            <a:r>
              <a:rPr lang="en-US" altLang="ko-KR" sz="16600" dirty="0">
                <a:solidFill>
                  <a:schemeClr val="tx1"/>
                </a:solidFill>
                <a:latin typeface="+mj-ea"/>
                <a:ea typeface="+mj-ea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371715679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://pds24.egloos.com/pds/201208/13/00/e0095400_5028be61b2909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7647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879721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9900" dirty="0" err="1">
                <a:solidFill>
                  <a:schemeClr val="tx1"/>
                </a:solidFill>
                <a:latin typeface="+mj-ea"/>
                <a:ea typeface="+mj-ea"/>
              </a:rPr>
              <a:t>tmux</a:t>
            </a:r>
            <a:endParaRPr lang="en-US" altLang="ko-KR" sz="19900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36432657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9900" dirty="0">
                <a:solidFill>
                  <a:schemeClr val="tx1"/>
                </a:solidFill>
                <a:latin typeface="+mj-ea"/>
                <a:ea typeface="+mj-ea"/>
              </a:rPr>
              <a:t>NOT screen</a:t>
            </a:r>
          </a:p>
        </p:txBody>
      </p:sp>
    </p:spTree>
    <p:extLst>
      <p:ext uri="{BB962C8B-B14F-4D97-AF65-F5344CB8AC3E}">
        <p14:creationId xmlns:p14="http://schemas.microsoft.com/office/powerpoint/2010/main" val="50528161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3800" dirty="0">
                <a:solidFill>
                  <a:schemeClr val="tx1"/>
                </a:solidFill>
                <a:latin typeface="+mj-ea"/>
                <a:ea typeface="+mj-ea"/>
              </a:rPr>
              <a:t>{ </a:t>
            </a:r>
            <a:r>
              <a:rPr lang="ko-KR" altLang="en-US" sz="13800" dirty="0" err="1">
                <a:solidFill>
                  <a:schemeClr val="tx1"/>
                </a:solidFill>
                <a:latin typeface="+mj-ea"/>
                <a:ea typeface="+mj-ea"/>
              </a:rPr>
              <a:t>다섯번째</a:t>
            </a:r>
            <a:r>
              <a:rPr lang="en-US" altLang="ko-KR" sz="13800" dirty="0">
                <a:solidFill>
                  <a:schemeClr val="tx1"/>
                </a:solidFill>
                <a:latin typeface="+mj-ea"/>
                <a:ea typeface="+mj-ea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382345856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http://cfile21.uf.tistory.com/image/262856495256C830362D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1"/>
            <a:ext cx="12353925" cy="9547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851446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9900" dirty="0" err="1">
                <a:solidFill>
                  <a:schemeClr val="tx1"/>
                </a:solidFill>
                <a:latin typeface="+mj-ea"/>
                <a:ea typeface="+mj-ea"/>
              </a:rPr>
              <a:t>ssh</a:t>
            </a:r>
            <a:endParaRPr lang="en-US" altLang="ko-KR" sz="19900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9858552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9900" dirty="0">
                <a:solidFill>
                  <a:schemeClr val="tx1"/>
                </a:solidFill>
                <a:latin typeface="+mj-ea"/>
                <a:ea typeface="+mj-ea"/>
              </a:rPr>
              <a:t>with</a:t>
            </a:r>
          </a:p>
        </p:txBody>
      </p:sp>
    </p:spTree>
    <p:extLst>
      <p:ext uri="{BB962C8B-B14F-4D97-AF65-F5344CB8AC3E}">
        <p14:creationId xmlns:p14="http://schemas.microsoft.com/office/powerpoint/2010/main" val="279623753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9900" dirty="0" err="1">
                <a:solidFill>
                  <a:schemeClr val="tx1"/>
                </a:solidFill>
                <a:latin typeface="+mj-ea"/>
                <a:ea typeface="+mj-ea"/>
              </a:rPr>
              <a:t>scp</a:t>
            </a:r>
            <a:endParaRPr lang="en-US" altLang="ko-KR" sz="19900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28382240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9900" dirty="0" err="1">
                <a:solidFill>
                  <a:schemeClr val="tx1"/>
                </a:solidFill>
                <a:latin typeface="+mj-ea"/>
                <a:ea typeface="+mj-ea"/>
              </a:rPr>
              <a:t>sftp</a:t>
            </a:r>
            <a:endParaRPr lang="en-US" altLang="ko-KR" sz="19900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82356949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3800" dirty="0">
                <a:solidFill>
                  <a:schemeClr val="tx1"/>
                </a:solidFill>
                <a:latin typeface="+mj-ea"/>
                <a:ea typeface="+mj-ea"/>
              </a:rPr>
              <a:t>{</a:t>
            </a:r>
            <a:r>
              <a:rPr lang="ko-KR" altLang="en-US" sz="13800" dirty="0" err="1">
                <a:solidFill>
                  <a:schemeClr val="tx1"/>
                </a:solidFill>
                <a:latin typeface="+mj-ea"/>
                <a:ea typeface="+mj-ea"/>
              </a:rPr>
              <a:t>여섯번째</a:t>
            </a:r>
            <a:r>
              <a:rPr lang="en-US" altLang="ko-KR" sz="13800" dirty="0">
                <a:solidFill>
                  <a:schemeClr val="tx1"/>
                </a:solidFill>
                <a:latin typeface="+mj-ea"/>
                <a:ea typeface="+mj-ea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10179962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https://attachment.namu.wiki/H2__h2_manga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7171107"/>
            <a:ext cx="12192000" cy="19382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49228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9900" dirty="0" err="1">
                <a:solidFill>
                  <a:schemeClr val="tx1"/>
                </a:solidFill>
                <a:latin typeface="+mj-ea"/>
                <a:ea typeface="+mj-ea"/>
              </a:rPr>
              <a:t>rsyslog</a:t>
            </a:r>
            <a:endParaRPr lang="en-US" altLang="ko-KR" sz="19900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9552342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3800" dirty="0">
                <a:solidFill>
                  <a:schemeClr val="tx1"/>
                </a:solidFill>
                <a:latin typeface="+mj-ea"/>
                <a:ea typeface="+mj-ea"/>
              </a:rPr>
              <a:t>{ </a:t>
            </a:r>
            <a:r>
              <a:rPr lang="ko-KR" altLang="en-US" sz="13800" dirty="0">
                <a:solidFill>
                  <a:schemeClr val="tx1"/>
                </a:solidFill>
                <a:latin typeface="+mj-ea"/>
                <a:ea typeface="+mj-ea"/>
              </a:rPr>
              <a:t>일곱번째 </a:t>
            </a:r>
            <a:r>
              <a:rPr lang="en-US" altLang="ko-KR" sz="13800" dirty="0">
                <a:solidFill>
                  <a:schemeClr val="tx1"/>
                </a:solidFill>
                <a:latin typeface="+mj-ea"/>
                <a:ea typeface="+mj-ea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4718968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http://maria.chuing.net/zboard/revol_getimg.php?id=mna&amp;no=49833&amp;num=5&amp;fc=08b26483bcb2a77c9333e7e14fff696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9850"/>
            <a:ext cx="12180452" cy="692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201386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9900" dirty="0" err="1">
                <a:solidFill>
                  <a:schemeClr val="tx1"/>
                </a:solidFill>
                <a:latin typeface="+mj-ea"/>
                <a:ea typeface="+mj-ea"/>
              </a:rPr>
              <a:t>cron</a:t>
            </a:r>
            <a:endParaRPr lang="en-US" altLang="ko-KR" sz="19900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34895057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773D4-5B8F-10F8-3226-2E2228FA9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E631812-639B-2B86-21EB-A9676806FE41}"/>
              </a:ext>
            </a:extLst>
          </p:cNvPr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9900" dirty="0">
                <a:solidFill>
                  <a:schemeClr val="tx1"/>
                </a:solidFill>
                <a:latin typeface="+mj-ea"/>
                <a:ea typeface="+mj-ea"/>
              </a:rPr>
              <a:t>그리고</a:t>
            </a:r>
            <a:endParaRPr lang="en-US" altLang="ko-KR" sz="19900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6246202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B24E3-1CEC-83AE-FABE-71F0DDE1A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4016F140-5B37-4D2B-B660-8FC86529AEE6_1_105_c">
            <a:extLst>
              <a:ext uri="{FF2B5EF4-FFF2-40B4-BE49-F238E27FC236}">
                <a16:creationId xmlns:a16="http://schemas.microsoft.com/office/drawing/2014/main" id="{C55AA02B-2879-97F6-B86A-EF39A9624D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860606"/>
            <a:ext cx="12192000" cy="9153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208238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EF82C-B000-C068-9371-A6456DAF7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8B0B3F9-E511-0BC0-F365-1B539045F682}"/>
              </a:ext>
            </a:extLst>
          </p:cNvPr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9900" dirty="0">
                <a:solidFill>
                  <a:schemeClr val="tx1"/>
                </a:solidFill>
                <a:latin typeface="+mj-ea"/>
                <a:ea typeface="+mj-ea"/>
              </a:rPr>
              <a:t>Airflow</a:t>
            </a:r>
          </a:p>
        </p:txBody>
      </p:sp>
    </p:spTree>
    <p:extLst>
      <p:ext uri="{BB962C8B-B14F-4D97-AF65-F5344CB8AC3E}">
        <p14:creationId xmlns:p14="http://schemas.microsoft.com/office/powerpoint/2010/main" val="404301507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3800" dirty="0">
                <a:solidFill>
                  <a:schemeClr val="tx1"/>
                </a:solidFill>
                <a:latin typeface="+mj-ea"/>
                <a:ea typeface="+mj-ea"/>
              </a:rPr>
              <a:t>{ </a:t>
            </a:r>
            <a:r>
              <a:rPr lang="ko-KR" altLang="en-US" sz="13800" dirty="0" err="1">
                <a:solidFill>
                  <a:schemeClr val="tx1"/>
                </a:solidFill>
                <a:latin typeface="+mj-ea"/>
                <a:ea typeface="+mj-ea"/>
              </a:rPr>
              <a:t>여덟번째</a:t>
            </a:r>
            <a:r>
              <a:rPr lang="ko-KR" altLang="en-US" sz="13800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en-US" altLang="ko-KR" sz="13800" dirty="0">
                <a:solidFill>
                  <a:schemeClr val="tx1"/>
                </a:solidFill>
                <a:latin typeface="+mj-ea"/>
                <a:ea typeface="+mj-ea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324710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http://image.chosun.com/sitedata/image/201107/15/2011071501833_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981200"/>
            <a:ext cx="12192000" cy="883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226597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500" dirty="0">
                <a:solidFill>
                  <a:schemeClr val="tx1"/>
                </a:solidFill>
                <a:latin typeface="+mj-ea"/>
                <a:ea typeface="+mj-ea"/>
              </a:rPr>
              <a:t>“</a:t>
            </a:r>
            <a:r>
              <a:rPr lang="ko-KR" altLang="en-US" sz="11500" dirty="0">
                <a:solidFill>
                  <a:schemeClr val="tx1"/>
                </a:solidFill>
                <a:latin typeface="+mj-ea"/>
                <a:ea typeface="+mj-ea"/>
              </a:rPr>
              <a:t>신이 </a:t>
            </a:r>
            <a:r>
              <a:rPr lang="ko-KR" altLang="en-US" sz="11500" dirty="0">
                <a:solidFill>
                  <a:srgbClr val="00B0F0"/>
                </a:solidFill>
                <a:latin typeface="+mj-ea"/>
                <a:ea typeface="+mj-ea"/>
              </a:rPr>
              <a:t>그것</a:t>
            </a:r>
            <a:r>
              <a:rPr lang="ko-KR" altLang="en-US" sz="11500" dirty="0">
                <a:solidFill>
                  <a:schemeClr val="tx1"/>
                </a:solidFill>
                <a:latin typeface="+mj-ea"/>
                <a:ea typeface="+mj-ea"/>
              </a:rPr>
              <a:t>을 원하신다</a:t>
            </a:r>
            <a:r>
              <a:rPr lang="en-US" altLang="ko-KR" sz="11500" dirty="0">
                <a:solidFill>
                  <a:schemeClr val="tx1"/>
                </a:solidFill>
                <a:latin typeface="+mj-ea"/>
                <a:ea typeface="+mj-ea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1824748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3800" dirty="0">
                <a:solidFill>
                  <a:schemeClr val="tx1"/>
                </a:solidFill>
                <a:latin typeface="+mj-ea"/>
                <a:ea typeface="+mj-ea"/>
              </a:rPr>
              <a:t>vim / </a:t>
            </a:r>
            <a:r>
              <a:rPr lang="en-US" altLang="ko-KR" sz="13800" dirty="0" err="1">
                <a:solidFill>
                  <a:schemeClr val="tx1"/>
                </a:solidFill>
                <a:latin typeface="+mj-ea"/>
                <a:ea typeface="+mj-ea"/>
              </a:rPr>
              <a:t>emacs</a:t>
            </a:r>
            <a:endParaRPr lang="en-US" altLang="ko-KR" sz="13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8500475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600" dirty="0">
                <a:solidFill>
                  <a:schemeClr val="tx1"/>
                </a:solidFill>
                <a:latin typeface="+mj-ea"/>
                <a:ea typeface="+mj-ea"/>
              </a:rPr>
              <a:t>{</a:t>
            </a:r>
            <a:r>
              <a:rPr lang="ko-KR" altLang="en-US" sz="16600" dirty="0" err="1">
                <a:solidFill>
                  <a:schemeClr val="tx1"/>
                </a:solidFill>
                <a:latin typeface="+mj-ea"/>
                <a:ea typeface="+mj-ea"/>
              </a:rPr>
              <a:t>아홉번째</a:t>
            </a:r>
            <a:r>
              <a:rPr lang="en-US" altLang="ko-KR" sz="16600" dirty="0">
                <a:solidFill>
                  <a:schemeClr val="tx1"/>
                </a:solidFill>
                <a:latin typeface="+mj-ea"/>
                <a:ea typeface="+mj-ea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42111248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http://kr.aqwa.me/files/attach/images/105/177/006/868de818030ea1d69610dd5b81d300e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9144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655446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DN media">
            <a:extLst>
              <a:ext uri="{FF2B5EF4-FFF2-40B4-BE49-F238E27FC236}">
                <a16:creationId xmlns:a16="http://schemas.microsoft.com/office/drawing/2014/main" id="{C38870E0-77D7-BAD0-C79B-5F371667A0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634291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07D56-35A1-594E-FCD0-0157BD03B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B7E4FF8-7F17-5419-BF5E-076093B49CEA}"/>
              </a:ext>
            </a:extLst>
          </p:cNvPr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600" dirty="0">
                <a:solidFill>
                  <a:schemeClr val="tx1"/>
                </a:solidFill>
                <a:latin typeface="+mj-ea"/>
                <a:ea typeface="+mj-ea"/>
              </a:rPr>
              <a:t>{</a:t>
            </a:r>
            <a:r>
              <a:rPr lang="ko-KR" altLang="en-US" sz="16600" dirty="0">
                <a:solidFill>
                  <a:schemeClr val="tx1"/>
                </a:solidFill>
                <a:latin typeface="+mj-ea"/>
                <a:ea typeface="+mj-ea"/>
              </a:rPr>
              <a:t>마지막</a:t>
            </a:r>
            <a:r>
              <a:rPr lang="en-US" altLang="ko-KR" sz="16600" dirty="0">
                <a:solidFill>
                  <a:schemeClr val="tx1"/>
                </a:solidFill>
                <a:latin typeface="+mj-ea"/>
                <a:ea typeface="+mj-ea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60458019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03EBE09-228F-6215-207F-CDD88F5D2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98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377224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3800" dirty="0">
                <a:solidFill>
                  <a:schemeClr val="tx1"/>
                </a:solidFill>
                <a:latin typeface="+mj-ea"/>
                <a:ea typeface="+mj-ea"/>
              </a:rPr>
              <a:t>[Hello!! ]</a:t>
            </a:r>
          </a:p>
        </p:txBody>
      </p:sp>
    </p:spTree>
    <p:extLst>
      <p:ext uri="{BB962C8B-B14F-4D97-AF65-F5344CB8AC3E}">
        <p14:creationId xmlns:p14="http://schemas.microsoft.com/office/powerpoint/2010/main" val="1783439196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E8F2655-C109-F2DB-8EDC-336211047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3191"/>
            <a:ext cx="12192000" cy="3411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302007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CECE4-CADE-D452-F49C-44234D74A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FA7466C-74AE-57E7-36D9-D184A09C058F}"/>
              </a:ext>
            </a:extLst>
          </p:cNvPr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3800" dirty="0">
                <a:solidFill>
                  <a:schemeClr val="tx1"/>
                </a:solidFill>
                <a:latin typeface="+mj-ea"/>
                <a:ea typeface="+mj-ea"/>
              </a:rPr>
              <a:t>[2026.08.29]</a:t>
            </a:r>
          </a:p>
        </p:txBody>
      </p:sp>
    </p:spTree>
    <p:extLst>
      <p:ext uri="{BB962C8B-B14F-4D97-AF65-F5344CB8AC3E}">
        <p14:creationId xmlns:p14="http://schemas.microsoft.com/office/powerpoint/2010/main" val="3595490724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6FB17-D229-53DF-3DED-5BE7CC1B3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2BCB446-E34C-5BEF-D6E2-95FB8EEB722F}"/>
              </a:ext>
            </a:extLst>
          </p:cNvPr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3800" dirty="0">
                <a:solidFill>
                  <a:schemeClr val="tx1"/>
                </a:solidFill>
                <a:latin typeface="+mj-ea"/>
                <a:ea typeface="+mj-ea"/>
              </a:rPr>
              <a:t>[</a:t>
            </a:r>
            <a:r>
              <a:rPr lang="ko-KR" altLang="en-US" sz="13800" dirty="0">
                <a:solidFill>
                  <a:schemeClr val="tx1"/>
                </a:solidFill>
                <a:latin typeface="+mj-ea"/>
                <a:ea typeface="+mj-ea"/>
              </a:rPr>
              <a:t>광화문</a:t>
            </a:r>
            <a:r>
              <a:rPr lang="en-US" altLang="ko-KR" sz="13800" dirty="0">
                <a:solidFill>
                  <a:schemeClr val="tx1"/>
                </a:solidFill>
                <a:latin typeface="+mj-ea"/>
                <a:ea typeface="+mj-ea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703924834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093E8-9915-44B4-CCC3-7A4A7544A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0B448E4-D67D-C7C5-8D99-D2C920DEB425}"/>
              </a:ext>
            </a:extLst>
          </p:cNvPr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3800" dirty="0">
                <a:solidFill>
                  <a:schemeClr val="tx1"/>
                </a:solidFill>
                <a:latin typeface="+mj-ea"/>
                <a:ea typeface="+mj-ea"/>
              </a:rPr>
              <a:t>[MS Korea]</a:t>
            </a:r>
          </a:p>
        </p:txBody>
      </p:sp>
    </p:spTree>
    <p:extLst>
      <p:ext uri="{BB962C8B-B14F-4D97-AF65-F5344CB8AC3E}">
        <p14:creationId xmlns:p14="http://schemas.microsoft.com/office/powerpoint/2010/main" val="3994310304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30EBB-7D19-CDDB-8E80-31585A942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94CE554-09B7-6BCB-786E-5A6BF703A6CB}"/>
              </a:ext>
            </a:extLst>
          </p:cNvPr>
          <p:cNvSpPr/>
          <p:nvPr/>
        </p:nvSpPr>
        <p:spPr>
          <a:xfrm>
            <a:off x="1358900" y="1302656"/>
            <a:ext cx="9664700" cy="399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3800" dirty="0">
                <a:solidFill>
                  <a:schemeClr val="tx1"/>
                </a:solidFill>
                <a:latin typeface="+mj-ea"/>
                <a:ea typeface="+mj-ea"/>
              </a:rPr>
              <a:t>[ Thx!!]</a:t>
            </a:r>
          </a:p>
        </p:txBody>
      </p:sp>
    </p:spTree>
    <p:extLst>
      <p:ext uri="{BB962C8B-B14F-4D97-AF65-F5344CB8AC3E}">
        <p14:creationId xmlns:p14="http://schemas.microsoft.com/office/powerpoint/2010/main" val="2152432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배달의민족">
      <a:majorFont>
        <a:latin typeface="Monaco"/>
        <a:ea typeface="배달의민족 한나"/>
        <a:cs typeface=""/>
      </a:majorFont>
      <a:minorFont>
        <a:latin typeface="Calibri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165</Words>
  <Application>Microsoft Office PowerPoint</Application>
  <PresentationFormat>와이드스크린</PresentationFormat>
  <Paragraphs>81</Paragraphs>
  <Slides>108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108</vt:i4>
      </vt:variant>
    </vt:vector>
  </HeadingPairs>
  <TitlesOfParts>
    <vt:vector size="112" baseType="lpstr">
      <vt:lpstr>Monaco</vt:lpstr>
      <vt:lpstr>Arial</vt:lpstr>
      <vt:lpstr>Calibri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 About Devloperment on Ubuntu</dc:title>
  <dc:creator>Sangkon Han</dc:creator>
  <cp:lastModifiedBy>Sangkon Han</cp:lastModifiedBy>
  <cp:revision>128</cp:revision>
  <dcterms:created xsi:type="dcterms:W3CDTF">2015-09-05T01:12:27Z</dcterms:created>
  <dcterms:modified xsi:type="dcterms:W3CDTF">2026-05-06T15:27:02Z</dcterms:modified>
</cp:coreProperties>
</file>